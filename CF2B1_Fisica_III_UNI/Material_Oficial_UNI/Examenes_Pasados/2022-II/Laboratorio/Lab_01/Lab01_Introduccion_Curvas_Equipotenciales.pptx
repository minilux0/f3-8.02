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5" r:id="rId4"/>
    <p:sldId id="279" r:id="rId5"/>
    <p:sldId id="280" r:id="rId6"/>
    <p:sldId id="276" r:id="rId7"/>
    <p:sldId id="278" r:id="rId8"/>
    <p:sldId id="266" r:id="rId9"/>
    <p:sldId id="267" r:id="rId10"/>
    <p:sldId id="283" r:id="rId11"/>
    <p:sldId id="282" r:id="rId12"/>
    <p:sldId id="284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9" autoAdjust="0"/>
    <p:restoredTop sz="94660"/>
  </p:normalViewPr>
  <p:slideViewPr>
    <p:cSldViewPr>
      <p:cViewPr varScale="1">
        <p:scale>
          <a:sx n="72" d="100"/>
          <a:sy n="72" d="100"/>
        </p:scale>
        <p:origin x="492" y="78"/>
      </p:cViewPr>
      <p:guideLst>
        <p:guide orient="horz" pos="2880"/>
        <p:guide pos="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Y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FBD92-483C-42B7-94DE-370D2DAE4A89}" type="datetimeFigureOut">
              <a:rPr lang="es-PY" smtClean="0"/>
              <a:t>22/9/2022</a:t>
            </a:fld>
            <a:endParaRPr lang="es-PY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Y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Y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0737-A2AB-4DBC-ADF5-BAEBAB17EEE2}" type="slidenum">
              <a:rPr lang="es-PY" smtClean="0"/>
              <a:t>‹Nº›</a:t>
            </a:fld>
            <a:endParaRPr lang="es-PY" dirty="0"/>
          </a:p>
        </p:txBody>
      </p:sp>
    </p:spTree>
    <p:extLst>
      <p:ext uri="{BB962C8B-B14F-4D97-AF65-F5344CB8AC3E}">
        <p14:creationId xmlns:p14="http://schemas.microsoft.com/office/powerpoint/2010/main" val="271134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9/22/2022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7424928" y="3681984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9604334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9/22/2022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9/22/2022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9/22/2022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9/22/2022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7424928" y="3681984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9604334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310" y="307289"/>
            <a:ext cx="1067937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C000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8259" y="1363421"/>
            <a:ext cx="11295481" cy="4690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9/22/2022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ticaciencia.blogspot.com/2012/11/medida-de-lineas-equipotenciales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cafeconmaxwell.blogspot.com/2018/04/prueba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s/photo/1372543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2339339" y="3048000"/>
            <a:ext cx="8100000" cy="3120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38100">
            <a:solidFill>
              <a:schemeClr val="accent3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579364" y="3352800"/>
            <a:ext cx="3240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accent3">
                    <a:lumMod val="50000"/>
                  </a:schemeClr>
                </a:solidFill>
                <a:latin typeface="Comic Sans MS"/>
                <a:cs typeface="Comic Sans MS"/>
              </a:rPr>
              <a:t>Profesor</a:t>
            </a:r>
            <a:r>
              <a:rPr lang="es-MX" sz="4000" b="1" spc="-5" dirty="0">
                <a:solidFill>
                  <a:schemeClr val="accent3">
                    <a:lumMod val="50000"/>
                  </a:schemeClr>
                </a:solidFill>
                <a:latin typeface="Comic Sans MS"/>
                <a:cs typeface="Comic Sans MS"/>
              </a:rPr>
              <a:t>:</a:t>
            </a:r>
            <a:endParaRPr sz="4000" b="1" dirty="0">
              <a:solidFill>
                <a:schemeClr val="accent3">
                  <a:lumMod val="50000"/>
                </a:schemeClr>
              </a:solidFill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4087" y="457200"/>
            <a:ext cx="1257300" cy="1583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14EA2F-59DA-CB90-B1AB-AE0E16F978E3}"/>
              </a:ext>
            </a:extLst>
          </p:cNvPr>
          <p:cNvSpPr txBox="1"/>
          <p:nvPr/>
        </p:nvSpPr>
        <p:spPr>
          <a:xfrm>
            <a:off x="2057400" y="152400"/>
            <a:ext cx="8820000" cy="2123658"/>
          </a:xfrm>
          <a:prstGeom prst="rect">
            <a:avLst/>
          </a:prstGeom>
          <a:solidFill>
            <a:srgbClr val="FFC000"/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Comic Sans MS" panose="030F0702030302020204" pitchFamily="66" charset="0"/>
              </a:rPr>
              <a:t>FÍSICA III (CF 2B1-A)</a:t>
            </a:r>
          </a:p>
          <a:p>
            <a:pPr algn="ctr"/>
            <a:endParaRPr lang="en-US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3">
                  <a:lumMod val="50000"/>
                </a:schemeClr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Comic Sans MS" panose="030F0702030302020204" pitchFamily="66" charset="0"/>
              </a:rPr>
              <a:t>SEMESTRE 2022-2</a:t>
            </a:r>
            <a:endParaRPr lang="es-MX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3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99773651-9FAF-6E35-0A98-C4E387C1A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741850"/>
              </p:ext>
            </p:extLst>
          </p:nvPr>
        </p:nvGraphicFramePr>
        <p:xfrm>
          <a:off x="3295650" y="4114800"/>
          <a:ext cx="6305550" cy="1411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0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4007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s-PE" sz="44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mic Sans MS"/>
                          <a:cs typeface="Comic Sans MS"/>
                        </a:rPr>
                        <a:t>Roberto Salazar</a:t>
                      </a: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44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mic Sans MS"/>
                          <a:cs typeface="Comic Sans MS"/>
                        </a:rPr>
                        <a:t>Gregorio</a:t>
                      </a:r>
                      <a:r>
                        <a:rPr sz="4400" b="1" spc="-2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44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mic Sans MS"/>
                          <a:cs typeface="Comic Sans MS"/>
                        </a:rPr>
                        <a:t>Cort</a:t>
                      </a:r>
                      <a:r>
                        <a:rPr lang="es-MX" sz="44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mic Sans MS"/>
                          <a:cs typeface="Comic Sans MS"/>
                        </a:rPr>
                        <a:t>e</a:t>
                      </a:r>
                      <a:r>
                        <a:rPr sz="44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mic Sans MS"/>
                          <a:cs typeface="Comic Sans MS"/>
                        </a:rPr>
                        <a:t>z</a:t>
                      </a:r>
                      <a:endParaRPr lang="es-PE" sz="44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omic Sans MS"/>
                        <a:cs typeface="Comic Sans MS"/>
                      </a:endParaRPr>
                    </a:p>
                  </a:txBody>
                  <a:tcPr marL="0" marR="0" marT="32384" marB="0" anchor="ctr">
                    <a:lnR w="635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19B0DD78-7C38-1273-8211-0A5366AD3AA0}"/>
              </a:ext>
            </a:extLst>
          </p:cNvPr>
          <p:cNvSpPr txBox="1">
            <a:spLocks/>
          </p:cNvSpPr>
          <p:nvPr/>
        </p:nvSpPr>
        <p:spPr>
          <a:xfrm>
            <a:off x="41765" y="53016"/>
            <a:ext cx="12096000" cy="6355586"/>
          </a:xfrm>
          <a:prstGeom prst="rect">
            <a:avLst/>
          </a:prstGeom>
          <a:solidFill>
            <a:srgbClr val="FFC000"/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5400" b="1" u="sng" kern="0" dirty="0">
                <a:ln w="22225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latin typeface="Comic Sans MS" panose="030F0702030302020204" pitchFamily="66" charset="0"/>
              </a:rPr>
              <a:t>RELACIÓN DE EXPERIENCIAS</a:t>
            </a:r>
          </a:p>
          <a:p>
            <a:pPr algn="ctr"/>
            <a:endParaRPr lang="en-US" sz="2400" b="1" kern="0" dirty="0">
              <a:ln w="22225">
                <a:solidFill>
                  <a:schemeClr val="accent3">
                    <a:lumMod val="50000"/>
                  </a:schemeClr>
                </a:solidFill>
                <a:prstDash val="solid"/>
              </a:ln>
              <a:latin typeface="Comic Sans MS" panose="030F0702030302020204" pitchFamily="66" charset="0"/>
            </a:endParaRPr>
          </a:p>
          <a:p>
            <a:r>
              <a:rPr lang="en-US" sz="4700" b="1" kern="0" dirty="0">
                <a:ln w="22225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latin typeface="Comic Sans MS" panose="030F0702030302020204" pitchFamily="66" charset="0"/>
              </a:rPr>
              <a:t>L1: Curvas Equipotenciales</a:t>
            </a:r>
          </a:p>
          <a:p>
            <a:r>
              <a:rPr lang="en-US" sz="4700" b="1" kern="0" dirty="0">
                <a:ln w="22225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latin typeface="Comic Sans MS" panose="030F0702030302020204" pitchFamily="66" charset="0"/>
              </a:rPr>
              <a:t>L2: Curvas Características V-I</a:t>
            </a:r>
            <a:br>
              <a:rPr lang="en-US" sz="4700" b="1" kern="0" dirty="0">
                <a:ln w="22225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US" sz="4700" b="1" kern="0" dirty="0">
                <a:ln w="22225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latin typeface="Comic Sans MS" panose="030F0702030302020204" pitchFamily="66" charset="0"/>
              </a:rPr>
              <a:t>L3: Fuerza Electromotriz (fem)</a:t>
            </a:r>
          </a:p>
          <a:p>
            <a:r>
              <a:rPr lang="en-US" sz="4700" b="1" kern="0" dirty="0">
                <a:ln w="22225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latin typeface="Comic Sans MS" panose="030F0702030302020204" pitchFamily="66" charset="0"/>
              </a:rPr>
              <a:t>L4: Osciloscopio/Carga y Descarga de un condensador</a:t>
            </a:r>
          </a:p>
          <a:p>
            <a:r>
              <a:rPr lang="en-US" sz="4700" b="1" kern="0" dirty="0">
                <a:ln w="22225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latin typeface="Comic Sans MS" panose="030F0702030302020204" pitchFamily="66" charset="0"/>
              </a:rPr>
              <a:t>L5: Corriente Alterna</a:t>
            </a:r>
          </a:p>
          <a:p>
            <a:r>
              <a:rPr lang="en-US" sz="4700" b="1" kern="0" dirty="0">
                <a:ln w="22225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latin typeface="Comic Sans MS" panose="030F0702030302020204" pitchFamily="66" charset="0"/>
              </a:rPr>
              <a:t>L6: Campo Magnético</a:t>
            </a:r>
          </a:p>
        </p:txBody>
      </p:sp>
    </p:spTree>
    <p:extLst>
      <p:ext uri="{BB962C8B-B14F-4D97-AF65-F5344CB8AC3E}">
        <p14:creationId xmlns:p14="http://schemas.microsoft.com/office/powerpoint/2010/main" val="126064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4E9F30D9-596A-CE9E-F4B8-7D0DFBEA84D4}"/>
              </a:ext>
            </a:extLst>
          </p:cNvPr>
          <p:cNvSpPr txBox="1"/>
          <p:nvPr/>
        </p:nvSpPr>
        <p:spPr>
          <a:xfrm>
            <a:off x="228600" y="152400"/>
            <a:ext cx="11664000" cy="645356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s-PE" sz="40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</a:rPr>
              <a:t>Cronograma De Actividades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s-PE" sz="4000" b="1" dirty="0">
                <a:solidFill>
                  <a:srgbClr val="0070C0"/>
                </a:solidFill>
                <a:latin typeface="Comic Sans MS" panose="030F0702030302020204" pitchFamily="66" charset="0"/>
                <a:ea typeface="Calibri" panose="020F0502020204030204" pitchFamily="34" charset="0"/>
              </a:rPr>
              <a:t>Syllabus de Física III</a:t>
            </a:r>
            <a:endParaRPr lang="es-PE" sz="4000" b="1" dirty="0">
              <a:solidFill>
                <a:srgbClr val="000000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s-PE" sz="4000" b="1" i="1" kern="5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Contenido del informe de Laboratorio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s-PE" sz="4000" b="1" i="1" kern="50" dirty="0">
                <a:solidFill>
                  <a:srgbClr val="0070C0"/>
                </a:solidFill>
                <a:latin typeface="Comic Sans MS" panose="030F0702030302020204" pitchFamily="66" charset="0"/>
                <a:ea typeface="DejaVu Sans"/>
              </a:rPr>
              <a:t>Evaluación del Informe de laboratorio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s-PE" sz="4000" b="1" i="1" kern="50" dirty="0">
                <a:solidFill>
                  <a:srgbClr val="0070C0"/>
                </a:solidFill>
                <a:latin typeface="Comic Sans MS" panose="030F0702030302020204" pitchFamily="66" charset="0"/>
                <a:ea typeface="DejaVu Sans"/>
              </a:rPr>
              <a:t>Faltas habituales cometidas al redactar el informe de laboratorio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s-PE" sz="4000" b="1" i="1" kern="50" dirty="0">
                <a:solidFill>
                  <a:srgbClr val="0070C0"/>
                </a:solidFill>
                <a:latin typeface="Comic Sans MS" panose="030F0702030302020204" pitchFamily="66" charset="0"/>
              </a:rPr>
              <a:t>Grupos y delegados de grupos (sección)</a:t>
            </a:r>
            <a:endParaRPr lang="es-PE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12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0D99E79-0AEE-A3D0-0395-3F0E08B77EA5}"/>
              </a:ext>
            </a:extLst>
          </p:cNvPr>
          <p:cNvSpPr txBox="1"/>
          <p:nvPr/>
        </p:nvSpPr>
        <p:spPr>
          <a:xfrm>
            <a:off x="732000" y="2507400"/>
            <a:ext cx="9936000" cy="18360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2059305" marR="25400">
              <a:lnSpc>
                <a:spcPct val="150000"/>
              </a:lnSpc>
              <a:spcAft>
                <a:spcPts val="0"/>
              </a:spcAft>
            </a:pPr>
            <a:r>
              <a:rPr lang="es-ES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Cronograma</a:t>
            </a:r>
            <a:r>
              <a:rPr lang="es-ES" sz="3600" b="1" spc="20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</a:t>
            </a:r>
            <a:r>
              <a:rPr lang="es-ES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de</a:t>
            </a:r>
            <a:r>
              <a:rPr lang="es-ES" sz="3600" b="1" spc="205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</a:t>
            </a:r>
            <a:r>
              <a:rPr lang="es-ES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Actividades</a:t>
            </a:r>
            <a:r>
              <a:rPr lang="es-ES" sz="3600" b="1" spc="-365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</a:t>
            </a:r>
            <a:endParaRPr lang="es-PE" sz="3600" b="1" dirty="0">
              <a:effectLst/>
              <a:latin typeface="Comic Sans MS" panose="030F0702030302020204" pitchFamily="66" charset="0"/>
              <a:ea typeface="Calibri" panose="020F0502020204030204" pitchFamily="34" charset="0"/>
            </a:endParaRPr>
          </a:p>
          <a:p>
            <a:pPr marL="2059305" marR="25400">
              <a:lnSpc>
                <a:spcPct val="150000"/>
              </a:lnSpc>
              <a:spcAft>
                <a:spcPts val="0"/>
              </a:spcAft>
            </a:pPr>
            <a:r>
              <a:rPr lang="es-ES" sz="3600" b="1" spc="-18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F</a:t>
            </a:r>
            <a:r>
              <a:rPr lang="es-ES" sz="3600" b="1" spc="-63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´</a:t>
            </a:r>
            <a:r>
              <a:rPr lang="es-ES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ısica </a:t>
            </a:r>
            <a:r>
              <a:rPr lang="es-ES" sz="3600" b="1" spc="-95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I</a:t>
            </a:r>
            <a:r>
              <a:rPr lang="es-ES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</a:t>
            </a:r>
            <a:r>
              <a:rPr lang="es-ES" sz="3600" b="1" spc="-95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</a:t>
            </a:r>
            <a:r>
              <a:rPr lang="es-ES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BFI01 (A, B, C, D, E)</a:t>
            </a:r>
            <a:endParaRPr lang="es-PE" sz="3600" b="1" dirty="0">
              <a:effectLst/>
              <a:latin typeface="Comic Sans MS" panose="030F0702030302020204" pitchFamily="66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6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D0808DC-69A2-0E87-E5E7-90C648BC98A4}"/>
              </a:ext>
            </a:extLst>
          </p:cNvPr>
          <p:cNvSpPr txBox="1"/>
          <p:nvPr/>
        </p:nvSpPr>
        <p:spPr>
          <a:xfrm>
            <a:off x="884400" y="2819400"/>
            <a:ext cx="9936000" cy="10800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2059305" marR="25400">
              <a:lnSpc>
                <a:spcPct val="150000"/>
              </a:lnSpc>
              <a:spcAft>
                <a:spcPts val="0"/>
              </a:spcAft>
            </a:pPr>
            <a:r>
              <a:rPr lang="es-PE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Syllabus de </a:t>
            </a:r>
            <a:r>
              <a:rPr lang="es-ES" sz="3600" b="1" spc="-18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F</a:t>
            </a:r>
            <a:r>
              <a:rPr lang="es-ES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ísica </a:t>
            </a:r>
            <a:r>
              <a:rPr lang="es-ES" sz="3600" b="1" spc="-95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I</a:t>
            </a:r>
            <a:r>
              <a:rPr lang="es-ES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</a:t>
            </a:r>
            <a:r>
              <a:rPr lang="es-ES" sz="3600" b="1" spc="-95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</a:t>
            </a:r>
            <a:r>
              <a:rPr lang="es-ES" sz="3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BFI01</a:t>
            </a:r>
            <a:endParaRPr lang="es-PE" sz="3600" b="1" dirty="0">
              <a:effectLst/>
              <a:latin typeface="Comic Sans MS" panose="030F0702030302020204" pitchFamily="66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139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E592042-58A6-7C62-234C-C503594C4363}"/>
              </a:ext>
            </a:extLst>
          </p:cNvPr>
          <p:cNvSpPr txBox="1"/>
          <p:nvPr/>
        </p:nvSpPr>
        <p:spPr>
          <a:xfrm>
            <a:off x="227400" y="268377"/>
            <a:ext cx="11736000" cy="62086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tabLst>
                <a:tab pos="190500" algn="l"/>
              </a:tabLst>
            </a:pPr>
            <a:r>
              <a:rPr lang="es-PE" sz="2400" b="1" i="1" u="sng" kern="5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Contenido del informe de Laboratorio</a:t>
            </a:r>
          </a:p>
          <a:p>
            <a:pPr algn="ctr">
              <a:tabLst>
                <a:tab pos="190500" algn="l"/>
              </a:tabLst>
            </a:pPr>
            <a:endParaRPr lang="es-PE" sz="2400" kern="50" dirty="0">
              <a:effectLst/>
              <a:latin typeface="Comic Sans MS" panose="030F0702030302020204" pitchFamily="66" charset="0"/>
              <a:ea typeface="DejaVu Sans"/>
              <a:cs typeface="DejaVu Sans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PE" sz="2000" b="1" kern="50" dirty="0">
                <a:effectLst/>
                <a:latin typeface="Comic Sans MS" panose="030F0702030302020204" pitchFamily="66" charset="0"/>
                <a:ea typeface="DejaVu Sans"/>
                <a:cs typeface="Mangal" panose="02040503050203030202" pitchFamily="18" charset="0"/>
              </a:rPr>
              <a:t>Carátula: UNI, facultad, título del experimento, autores, fecha de realización, mes, añ</a:t>
            </a:r>
            <a:r>
              <a:rPr lang="es-PE" sz="2000" b="1" kern="50" dirty="0">
                <a:latin typeface="Comic Sans MS" panose="030F0702030302020204" pitchFamily="66" charset="0"/>
                <a:ea typeface="DejaVu Sans"/>
                <a:cs typeface="Mangal" panose="02040503050203030202" pitchFamily="18" charset="0"/>
              </a:rPr>
              <a:t>o.</a:t>
            </a:r>
            <a:r>
              <a:rPr lang="es-PE" sz="2000" b="1" kern="50" dirty="0">
                <a:effectLst/>
                <a:latin typeface="Comic Sans MS" panose="030F0702030302020204" pitchFamily="66" charset="0"/>
                <a:ea typeface="DejaVu Sans"/>
                <a:cs typeface="Mangal" panose="02040503050203030202" pitchFamily="18" charset="0"/>
              </a:rPr>
              <a:t>   </a:t>
            </a:r>
            <a:endParaRPr lang="es-PE" sz="2400" kern="50" dirty="0">
              <a:effectLst/>
              <a:latin typeface="Comic Sans MS" panose="030F0702030302020204" pitchFamily="66" charset="0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 startAt="2"/>
              <a:tabLst>
                <a:tab pos="219075" algn="l"/>
                <a:tab pos="457200" algn="l"/>
              </a:tabLst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Introducción. Objetivos del experimento.	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 startAt="2"/>
              <a:tabLst>
                <a:tab pos="219075" algn="l"/>
                <a:tab pos="457200" algn="l"/>
              </a:tabLst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Fundamento teórico.	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 startAt="2"/>
              <a:tabLst>
                <a:tab pos="219075" algn="l"/>
                <a:tab pos="457200" algn="l"/>
              </a:tabLst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Equipo utilizado, diagrama de flujo del experimento realizado.	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 startAt="2"/>
              <a:tabLst>
                <a:tab pos="219075" algn="l"/>
                <a:tab pos="457200" algn="l"/>
              </a:tabLst>
            </a:pPr>
            <a:r>
              <a:rPr lang="es-PE" sz="23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Procedimiento experimental </a:t>
            </a:r>
            <a:r>
              <a:rPr lang="es-PE" sz="2300" b="1" u="sng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seguido</a:t>
            </a:r>
            <a:r>
              <a:rPr lang="es-PE" sz="23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 en el laboratorio. Tabla de datos de entrada.</a:t>
            </a:r>
            <a:endParaRPr lang="es-PE" sz="2400" kern="50" dirty="0">
              <a:effectLst/>
              <a:latin typeface="Comic Sans MS" panose="030F0702030302020204" pitchFamily="66" charset="0"/>
              <a:ea typeface="DejaVu Sans"/>
              <a:cs typeface="DejaVu Sans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 startAt="2"/>
              <a:tabLst>
                <a:tab pos="219075" algn="l"/>
                <a:tab pos="457200" algn="l"/>
              </a:tabLst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Cálculos y resultados,	</a:t>
            </a:r>
          </a:p>
          <a:p>
            <a:pPr marL="180340" indent="-180340">
              <a:lnSpc>
                <a:spcPct val="115000"/>
              </a:lnSpc>
              <a:tabLst>
                <a:tab pos="219075" algn="l"/>
              </a:tabLst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6.1 Uso de unidades</a:t>
            </a:r>
          </a:p>
          <a:p>
            <a:pPr marL="180340" indent="-180340">
              <a:lnSpc>
                <a:spcPct val="115000"/>
              </a:lnSpc>
              <a:tabLst>
                <a:tab pos="219075" algn="l"/>
              </a:tabLst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6.2 Uso de cifras significativas</a:t>
            </a:r>
          </a:p>
          <a:p>
            <a:pPr marL="180340" indent="-180340">
              <a:lnSpc>
                <a:spcPct val="115000"/>
              </a:lnSpc>
              <a:tabLst>
                <a:tab pos="219075" algn="l"/>
              </a:tabLst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6.3 Cálculo de errores</a:t>
            </a:r>
          </a:p>
          <a:p>
            <a:pPr marL="180340" indent="-180340">
              <a:lnSpc>
                <a:spcPct val="115000"/>
              </a:lnSpc>
              <a:tabLst>
                <a:tab pos="219075" algn="l"/>
              </a:tabLst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6.4 Comparación de los resultados experimentales con otros conocidos	</a:t>
            </a:r>
          </a:p>
          <a:p>
            <a:pPr marL="180340" indent="-180340">
              <a:lnSpc>
                <a:spcPct val="115000"/>
              </a:lnSpc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DejaVu Sans"/>
              </a:rPr>
              <a:t>7. Cuestionario. Observaciones. Sugerencias.	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 startAt="8"/>
              <a:tabLst>
                <a:tab pos="219075" algn="l"/>
                <a:tab pos="450215" algn="l"/>
              </a:tabLst>
            </a:pP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  <a:cs typeface="Mangal" panose="02040503050203030202" pitchFamily="18" charset="0"/>
              </a:rPr>
              <a:t>Conclusiones.</a:t>
            </a:r>
          </a:p>
          <a:p>
            <a:r>
              <a:rPr lang="es-PE" sz="2400" kern="50" dirty="0">
                <a:latin typeface="Comic Sans MS" panose="030F0702030302020204" pitchFamily="66" charset="0"/>
                <a:ea typeface="DejaVu Sans"/>
                <a:cs typeface="Mangal" panose="02040503050203030202" pitchFamily="18" charset="0"/>
              </a:rPr>
              <a:t>9. </a:t>
            </a:r>
            <a:r>
              <a:rPr lang="es-PE" sz="2400" kern="50" dirty="0">
                <a:effectLst/>
                <a:latin typeface="Comic Sans MS" panose="030F0702030302020204" pitchFamily="66" charset="0"/>
                <a:ea typeface="DejaVu Sans"/>
              </a:rPr>
              <a:t>Bibliografía (Título del libro, autor editorial, edición, número de páginas)</a:t>
            </a:r>
            <a:endParaRPr lang="es-P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3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821FF17-1318-FEA8-9182-E8B3F3175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0098"/>
              </p:ext>
            </p:extLst>
          </p:nvPr>
        </p:nvGraphicFramePr>
        <p:xfrm>
          <a:off x="1750800" y="76200"/>
          <a:ext cx="8460000" cy="1044000"/>
        </p:xfrm>
        <a:graphic>
          <a:graphicData uri="http://schemas.openxmlformats.org/drawingml/2006/table">
            <a:tbl>
              <a:tblPr/>
              <a:tblGrid>
                <a:gridCol w="8460000">
                  <a:extLst>
                    <a:ext uri="{9D8B030D-6E8A-4147-A177-3AD203B41FA5}">
                      <a16:colId xmlns:a16="http://schemas.microsoft.com/office/drawing/2014/main" val="2290188699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 fontAlgn="b"/>
                      <a:r>
                        <a:rPr lang="es-PE" sz="2800" b="1" i="0" u="none" strike="noStrike" dirty="0"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L1: CURVAS EQUIPOTENCIALES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921070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2800" b="1" i="0" u="none" strike="noStrike" dirty="0"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Asistencia Jueves 29 de septiembre 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30127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52868D6-3D87-7E87-2288-2989F1592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143" y="1251245"/>
            <a:ext cx="714971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924050" algn="l"/>
                <a:tab pos="3590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924050" algn="l"/>
                <a:tab pos="3590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924050" algn="l"/>
                <a:tab pos="3590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924050" algn="l"/>
                <a:tab pos="3590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924050" algn="l"/>
                <a:tab pos="3590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924050" algn="l"/>
                <a:tab pos="3590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924050" algn="l"/>
                <a:tab pos="3590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924050" algn="l"/>
                <a:tab pos="3590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924050" algn="l"/>
                <a:tab pos="3590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endParaRPr kumimoji="0" lang="es-PE" altLang="es-PE" sz="2400" b="1" i="1" u="sng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mic Sans MS" panose="030F0702030302020204" pitchFamily="66" charset="0"/>
              <a:ea typeface="DejaVu Sans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r>
              <a:rPr kumimoji="0" lang="es-PE" altLang="es-PE" sz="2400" b="1" i="1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DejaVu Sans"/>
                <a:cs typeface="Times New Roman" panose="02020603050405020304" pitchFamily="18" charset="0"/>
              </a:rPr>
              <a:t>EVALUACIÓN DEL LABORATORIO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r>
              <a:rPr kumimoji="0" lang="es-PE" altLang="es-P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DejaVu Sans"/>
                <a:cs typeface="Times New Roman" panose="02020603050405020304" pitchFamily="18" charset="0"/>
              </a:rPr>
              <a:t>		   </a:t>
            </a:r>
            <a:r>
              <a:rPr kumimoji="0" lang="es-PE" altLang="es-PE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DejaVu Sans"/>
                <a:cs typeface="Times New Roman" panose="02020603050405020304" pitchFamily="18" charset="0"/>
              </a:rPr>
              <a:t>Puntaje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endParaRPr kumimoji="0" lang="es-PE" altLang="es-PE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r>
              <a:rPr kumimoji="0" lang="es-PE" altLang="es-P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DejaVu Sans"/>
                <a:cs typeface="Times New Roman" panose="02020603050405020304" pitchFamily="18" charset="0"/>
              </a:rPr>
              <a:t>Test				8</a:t>
            </a:r>
            <a:endParaRPr kumimoji="0" lang="es-PE" altLang="es-P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r>
              <a:rPr kumimoji="0" lang="es-PE" altLang="es-P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DejaVu Sans"/>
                <a:cs typeface="Times New Roman" panose="02020603050405020304" pitchFamily="18" charset="0"/>
              </a:rPr>
              <a:t>Incisos de 1 al 4			2</a:t>
            </a:r>
            <a:endParaRPr kumimoji="0" lang="es-PE" altLang="es-P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r>
              <a:rPr kumimoji="0" lang="es-PE" altLang="es-P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DejaVu Sans"/>
                <a:cs typeface="Times New Roman" panose="02020603050405020304" pitchFamily="18" charset="0"/>
              </a:rPr>
              <a:t>Inciso 5				2</a:t>
            </a:r>
            <a:endParaRPr kumimoji="0" lang="es-PE" altLang="es-P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r>
              <a:rPr kumimoji="0" lang="es-PE" altLang="es-P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DejaVu Sans"/>
                <a:cs typeface="Times New Roman" panose="02020603050405020304" pitchFamily="18" charset="0"/>
              </a:rPr>
              <a:t>Incisos 6 y 7			6</a:t>
            </a:r>
            <a:endParaRPr kumimoji="0" lang="es-PE" altLang="es-P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r>
              <a:rPr kumimoji="0" lang="es-PE" altLang="es-P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DejaVu Sans"/>
                <a:cs typeface="Times New Roman" panose="02020603050405020304" pitchFamily="18" charset="0"/>
              </a:rPr>
              <a:t>Incisos 8 y 9			2</a:t>
            </a:r>
            <a:r>
              <a:rPr kumimoji="0" lang="es-PE" altLang="es-P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              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r>
              <a:rPr lang="es-PE" altLang="es-PE" sz="3200" dirty="0">
                <a:latin typeface="Comic Sans MS" panose="030F0702030302020204" pitchFamily="66" charset="0"/>
              </a:rPr>
              <a:t>		      20 Puntos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24050" algn="l"/>
                <a:tab pos="3590925" algn="l"/>
              </a:tabLst>
            </a:pPr>
            <a:endParaRPr kumimoji="0" lang="es-PE" altLang="es-P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cxnSp>
        <p:nvCxnSpPr>
          <p:cNvPr id="4" name="AutoShape 2">
            <a:extLst>
              <a:ext uri="{FF2B5EF4-FFF2-40B4-BE49-F238E27FC236}">
                <a16:creationId xmlns:a16="http://schemas.microsoft.com/office/drawing/2014/main" id="{9E9CCB8C-A382-02F9-59C6-DF94AB198A4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38400" y="7541894"/>
            <a:ext cx="11592000" cy="252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DADBE51-F74B-794F-7D08-5FDA62CA876E}"/>
              </a:ext>
            </a:extLst>
          </p:cNvPr>
          <p:cNvCxnSpPr/>
          <p:nvPr/>
        </p:nvCxnSpPr>
        <p:spPr>
          <a:xfrm>
            <a:off x="6553200" y="5791200"/>
            <a:ext cx="990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69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A619333-CC3B-4A00-4407-DA48B3093785}"/>
              </a:ext>
            </a:extLst>
          </p:cNvPr>
          <p:cNvSpPr txBox="1"/>
          <p:nvPr/>
        </p:nvSpPr>
        <p:spPr>
          <a:xfrm>
            <a:off x="152400" y="81570"/>
            <a:ext cx="11916000" cy="67320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2400" b="1" i="1" u="sng" kern="5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A continuación, se indica lo que hizo falta en la redacción del Informe de Laboratorio</a:t>
            </a:r>
            <a:endParaRPr lang="es-PE" sz="2400" kern="50" dirty="0">
              <a:effectLst/>
              <a:latin typeface="Liberation Serif"/>
              <a:ea typeface="DejaVu Sans"/>
              <a:cs typeface="DejaVu Sans"/>
            </a:endParaRPr>
          </a:p>
          <a:p>
            <a:pPr>
              <a:tabLst>
                <a:tab pos="6124575" algn="r"/>
              </a:tabLst>
            </a:pPr>
            <a:r>
              <a:rPr lang="es-PE" sz="2400" kern="50" dirty="0">
                <a:solidFill>
                  <a:srgbClr val="0070C0"/>
                </a:solidFill>
                <a:effectLst/>
                <a:latin typeface="Liberation Serif"/>
                <a:ea typeface="DejaVu Sans"/>
                <a:cs typeface="DejaVu Sans"/>
              </a:rPr>
              <a:t> </a:t>
            </a:r>
            <a:endParaRPr lang="es-PE" sz="2400" kern="50" dirty="0">
              <a:effectLst/>
              <a:latin typeface="Liberation Serif"/>
              <a:ea typeface="DejaVu Sans"/>
              <a:cs typeface="DejaVu Sans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Carátula indicando Universidad y Facultad a la que pertenece. Curso, código del curso. 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Número del Laboratorio, título de la experiencia. Integrantes. Fecha y hora en que se realizó.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Establezca un orden coherente con el desarrollo de su informe según el formato para la redacción. Utilizar un mismo tamaño y tipo de letra (times new roman 12), interlineado 1.5.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b="1" i="1" u="sng" kern="5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Agregar un índice. Numerar las páginas de su informe.</a:t>
            </a:r>
            <a:r>
              <a:rPr lang="es-PE" sz="2400" kern="5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 </a:t>
            </a: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Colocar las gráficas según corresponda.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Realizar un diagrama de bloques que visualice los pasos seguidos durante la realización de la experiencia.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Tabular los datos indicando las cifras significativas a utilizar. Indicar las unidades utilizadas.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b="1" i="1" u="sng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Numerar</a:t>
            </a:r>
            <a:r>
              <a:rPr lang="es-PE" sz="2400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 </a:t>
            </a:r>
            <a:r>
              <a:rPr lang="es-PE" sz="2400" kern="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l</a:t>
            </a: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as gráficas, figuras, tablas, fotografías y/o croquis utilizados en el informe. </a:t>
            </a:r>
            <a:r>
              <a:rPr lang="es-PE" sz="2400" b="1" u="sng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Colocar leyendas</a:t>
            </a:r>
            <a:r>
              <a:rPr lang="es-PE" sz="2400" u="sng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.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b="1" i="1" u="sng" kern="5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Análisis de tablas y gráficas.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Resolver todo lo que se requiera en el desarrollo de su informe siguiendo la guía de laboratorio y/o indicaciones adicionales.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endParaRPr lang="es-P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61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C4EA7F1-FAA6-1696-18B5-250688E61065}"/>
              </a:ext>
            </a:extLst>
          </p:cNvPr>
          <p:cNvSpPr txBox="1"/>
          <p:nvPr/>
        </p:nvSpPr>
        <p:spPr>
          <a:xfrm>
            <a:off x="152400" y="533400"/>
            <a:ext cx="11916000" cy="533684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Agregar observaciones y/o sugerencias.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b="1" u="sng" kern="5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Indique sus conclusiones refiriéndose exclusivamente a sus resultados experimentales</a:t>
            </a: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 (en que página está la información y/o número de gráfica, tabla)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Courier New" panose="02070309020205020404" pitchFamily="49" charset="0"/>
              <a:buChar char="o"/>
              <a:tabLst>
                <a:tab pos="6124575" algn="r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Mangal" panose="02040503050203030202" pitchFamily="18" charset="0"/>
              </a:rPr>
              <a:t>Indique la bibliografía utilizada, en el siguiente orden,</a:t>
            </a:r>
            <a:endParaRPr lang="es-PE" sz="2400" kern="50" dirty="0">
              <a:effectLst/>
              <a:latin typeface="Liberation Serif"/>
              <a:ea typeface="DejaVu Sans"/>
              <a:cs typeface="Mangal" panose="02040503050203030202" pitchFamily="18" charset="0"/>
            </a:endParaRPr>
          </a:p>
          <a:p>
            <a:pPr marL="228600">
              <a:tabLst>
                <a:tab pos="6124575" algn="r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 </a:t>
            </a:r>
            <a:endParaRPr lang="es-PE" sz="2400" kern="50" dirty="0">
              <a:latin typeface="Liberation Serif"/>
              <a:ea typeface="DejaVu Sans"/>
              <a:cs typeface="DejaVu Sans"/>
            </a:endParaRPr>
          </a:p>
          <a:p>
            <a:pPr marL="228600">
              <a:tabLst>
                <a:tab pos="6124575" algn="r"/>
              </a:tabLst>
            </a:pPr>
            <a:r>
              <a:rPr lang="es-PE" sz="2400" b="1" kern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Autor, Título, Volumen, Editorial, Número de páginas donde se encuentra la información.</a:t>
            </a:r>
            <a:endParaRPr lang="es-PE" sz="2400" kern="50" dirty="0">
              <a:effectLst/>
              <a:latin typeface="Liberation Serif"/>
              <a:ea typeface="DejaVu Sans"/>
              <a:cs typeface="DejaVu Sans"/>
            </a:endParaRPr>
          </a:p>
          <a:p>
            <a:r>
              <a:rPr lang="es-PE" sz="2400" kern="50" dirty="0">
                <a:solidFill>
                  <a:srgbClr val="FF0000"/>
                </a:solidFill>
                <a:effectLst/>
                <a:latin typeface="Liberation Serif"/>
                <a:ea typeface="DejaVu Sans"/>
                <a:cs typeface="DejaVu Sans"/>
              </a:rPr>
              <a:t> </a:t>
            </a:r>
            <a:endParaRPr lang="es-PE" sz="2400" kern="50" dirty="0">
              <a:effectLst/>
              <a:latin typeface="Liberation Serif"/>
              <a:ea typeface="DejaVu Sans"/>
              <a:cs typeface="DejaVu Sans"/>
            </a:endParaRPr>
          </a:p>
          <a:p>
            <a:pPr algn="just">
              <a:lnSpc>
                <a:spcPct val="115000"/>
              </a:lnSpc>
              <a:tabLst>
                <a:tab pos="1924050" algn="l"/>
                <a:tab pos="4295775" algn="l"/>
              </a:tabLst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Ejemplo:</a:t>
            </a:r>
          </a:p>
          <a:p>
            <a:pPr algn="just">
              <a:lnSpc>
                <a:spcPct val="115000"/>
              </a:lnSpc>
              <a:tabLst>
                <a:tab pos="1924050" algn="l"/>
                <a:tab pos="4295775" algn="l"/>
              </a:tabLst>
            </a:pPr>
            <a:endParaRPr lang="es-PE" sz="2400" kern="50" dirty="0">
              <a:effectLst/>
              <a:latin typeface="Liberation Serif"/>
              <a:ea typeface="DejaVu Sans"/>
              <a:cs typeface="DejaVu Sans"/>
            </a:endParaRPr>
          </a:p>
          <a:p>
            <a:pPr algn="just">
              <a:lnSpc>
                <a:spcPct val="115000"/>
              </a:lnSpc>
            </a:pPr>
            <a:r>
              <a:rPr lang="es-PE" sz="2400" kern="5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R. Resnick-D. Halliday, “Física para estudiantes de Ciencias e Ingeniería”, Volumen I, CECSA, páginas 105-109.</a:t>
            </a:r>
            <a:endParaRPr lang="es-PE" sz="2400" kern="50" dirty="0">
              <a:effectLst/>
              <a:latin typeface="Liberation Serif"/>
              <a:ea typeface="DejaVu Sans"/>
              <a:cs typeface="DejaVu Sans"/>
            </a:endParaRPr>
          </a:p>
          <a:p>
            <a:endParaRPr lang="es-P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170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2FDB3-9E99-44BA-04F5-EE5C6B84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308" y="152400"/>
            <a:ext cx="10673691" cy="685800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s-PE" sz="3600" dirty="0"/>
              <a:t>Curvas Equipotenciales de cargas puntuales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4C2B37-0EF3-122A-7C7F-C5E50AAA2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86000" y="990600"/>
            <a:ext cx="6228000" cy="573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38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3D0DDA-E83E-9406-7E0B-F84957A29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8800" y="863325"/>
            <a:ext cx="11556000" cy="5994675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5E88E91-8D49-1CB0-9948-9C467C145F75}"/>
              </a:ext>
            </a:extLst>
          </p:cNvPr>
          <p:cNvSpPr txBox="1">
            <a:spLocks/>
          </p:cNvSpPr>
          <p:nvPr/>
        </p:nvSpPr>
        <p:spPr>
          <a:xfrm>
            <a:off x="756308" y="-76200"/>
            <a:ext cx="10673691" cy="685800"/>
          </a:xfrm>
          <a:prstGeom prst="rect">
            <a:avLst/>
          </a:prstGeom>
          <a:solidFill>
            <a:srgbClr val="FFFF00"/>
          </a:solidFill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3600" kern="0" dirty="0">
                <a:solidFill>
                  <a:sysClr val="windowText" lastClr="000000"/>
                </a:solidFill>
              </a:rPr>
              <a:t>Curvas Equipotenciales de planos de carga</a:t>
            </a:r>
          </a:p>
        </p:txBody>
      </p:sp>
    </p:spTree>
    <p:extLst>
      <p:ext uri="{BB962C8B-B14F-4D97-AF65-F5344CB8AC3E}">
        <p14:creationId xmlns:p14="http://schemas.microsoft.com/office/powerpoint/2010/main" val="1868784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933D7C-3782-1357-368D-797770B18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2500" y="15240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3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9C93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1289</TotalTime>
  <Words>570</Words>
  <Application>Microsoft Office PowerPoint</Application>
  <PresentationFormat>Panorámica</PresentationFormat>
  <Paragraphs>72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Calibri</vt:lpstr>
      <vt:lpstr>Comic Sans MS</vt:lpstr>
      <vt:lpstr>Courier New</vt:lpstr>
      <vt:lpstr>Liberation Serif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Curvas Equipotenciales de cargas puntuales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Curso: Físia I (BFI01C)</dc:title>
  <dc:creator>Usuario</dc:creator>
  <cp:lastModifiedBy>Casa</cp:lastModifiedBy>
  <cp:revision>40</cp:revision>
  <dcterms:created xsi:type="dcterms:W3CDTF">2020-08-20T16:38:06Z</dcterms:created>
  <dcterms:modified xsi:type="dcterms:W3CDTF">2022-09-22T12:07:06Z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2020-08-20T00:00:00Z</vt:filetime>
  </property>
</Properties>
</file>